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75" r:id="rId5"/>
    <p:sldId id="276" r:id="rId6"/>
    <p:sldId id="277" r:id="rId7"/>
    <p:sldId id="259" r:id="rId8"/>
    <p:sldId id="260" r:id="rId9"/>
    <p:sldId id="261" r:id="rId10"/>
    <p:sldId id="262" r:id="rId11"/>
    <p:sldId id="263" r:id="rId12"/>
    <p:sldId id="272" r:id="rId13"/>
    <p:sldId id="273" r:id="rId14"/>
    <p:sldId id="274" r:id="rId15"/>
    <p:sldId id="264" r:id="rId16"/>
    <p:sldId id="265" r:id="rId17"/>
    <p:sldId id="266" r:id="rId18"/>
    <p:sldId id="267" r:id="rId19"/>
    <p:sldId id="268" r:id="rId20"/>
    <p:sldId id="269" r:id="rId21"/>
    <p:sldId id="270" r:id="rId22"/>
    <p:sldId id="271"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038" autoAdjust="0"/>
  </p:normalViewPr>
  <p:slideViewPr>
    <p:cSldViewPr snapToGrid="0" snapToObjects="1">
      <p:cViewPr varScale="1">
        <p:scale>
          <a:sx n="77" d="100"/>
          <a:sy n="77" d="100"/>
        </p:scale>
        <p:origin x="1546"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EA4470F-FC27-4AFB-9197-D5098A3243F5}" type="datetimeFigureOut">
              <a:rPr lang="en-US" smtClean="0"/>
              <a:t>8/28/2025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38F747-9C8D-48E7-808E-AD6EAFC81271}" type="slidenum">
              <a:rPr lang="en-US" smtClean="0"/>
              <a:t>‹#›</a:t>
            </a:fld>
            <a:endParaRPr lang="en-US"/>
          </a:p>
        </p:txBody>
      </p:sp>
    </p:spTree>
    <p:extLst>
      <p:ext uri="{BB962C8B-B14F-4D97-AF65-F5344CB8AC3E}">
        <p14:creationId xmlns:p14="http://schemas.microsoft.com/office/powerpoint/2010/main" val="3318832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google.com/search?sca_esv=cc2881f0e79ae444&amp;sxsrf=AE3TifNHd2vtUUMwmegfvv7h-kA7blIkhg%3A1755961403355&amp;q=sprint&amp;sa=X&amp;ved=2ahUKEwjPx779maGPAxVUr1YBHTDqK6MQxccNegUIgAIQAQ&amp;mstk=AUtExfAe8qgKtuS2oKifYCHijPPAXnYwRP4uKy9mxfa0enLmoQ3HUR2vFdpkXCX9qEziJ6dCuV45nIgzqRxfSRVIRKA40jA8LdsrBYp1vfIuoJTudKLYmi5tSoIdJU8qYh0NdDTcUUVazhaykov3LfWUFeLXHmFX5khSBmEJYj289KIhpTm-xQAW-t-kjQlD8Gt45o1aPAdlJW2bYj5riO_1XwmHbXOR98bliUTYKQF0xcGWIIf08iPgd3Nd-GUQ1yr7x5rbEVlPzZgj_hyk1dwavl8L&amp;csui=3"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6</a:t>
            </a:fld>
            <a:endParaRPr lang="en-US"/>
          </a:p>
        </p:txBody>
      </p:sp>
    </p:spTree>
    <p:extLst>
      <p:ext uri="{BB962C8B-B14F-4D97-AF65-F5344CB8AC3E}">
        <p14:creationId xmlns:p14="http://schemas.microsoft.com/office/powerpoint/2010/main" val="41882997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Key Characteristics</a:t>
            </a:r>
          </a:p>
          <a:p>
            <a:pPr algn="l"/>
            <a:r>
              <a:rPr lang="en-US" b="1" i="0" dirty="0">
                <a:solidFill>
                  <a:srgbClr val="EEF0FF"/>
                </a:solidFill>
                <a:effectLst/>
                <a:latin typeface="Google Sans"/>
              </a:rPr>
              <a:t>Sequential Phases:</a:t>
            </a:r>
            <a:endParaRPr lang="en-US" b="0" i="0" dirty="0">
              <a:solidFill>
                <a:srgbClr val="EEF0FF"/>
              </a:solidFill>
              <a:effectLst/>
              <a:latin typeface="Google Sans"/>
            </a:endParaRPr>
          </a:p>
          <a:p>
            <a:pPr algn="l" fontAlgn="ctr"/>
            <a:r>
              <a:rPr lang="en-US" b="0" i="0" dirty="0">
                <a:solidFill>
                  <a:srgbClr val="C3C6D6"/>
                </a:solidFill>
                <a:effectLst/>
                <a:latin typeface="Google Sans"/>
              </a:rPr>
              <a:t>Work progresses from one phase to the next in a fixed order, like water flowing over a waterfall. </a:t>
            </a:r>
            <a:endParaRPr lang="en-US" b="0" i="0" dirty="0">
              <a:solidFill>
                <a:srgbClr val="A8C7FA"/>
              </a:solidFill>
              <a:effectLst/>
              <a:latin typeface="Google Sans"/>
            </a:endParaRPr>
          </a:p>
          <a:p>
            <a:pPr algn="l"/>
            <a:r>
              <a:rPr lang="en-US" b="1" i="0" dirty="0">
                <a:solidFill>
                  <a:srgbClr val="EEF0FF"/>
                </a:solidFill>
                <a:effectLst/>
                <a:latin typeface="Google Sans"/>
              </a:rPr>
              <a:t>Linear Progress:</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process moves in a single direction, and returning to a previous phase is generally not possible or expected. </a:t>
            </a:r>
            <a:endParaRPr lang="en-US" b="0" i="0" dirty="0">
              <a:solidFill>
                <a:srgbClr val="A8C7FA"/>
              </a:solidFill>
              <a:effectLst/>
              <a:latin typeface="Google Sans"/>
            </a:endParaRPr>
          </a:p>
          <a:p>
            <a:pPr algn="l"/>
            <a:r>
              <a:rPr lang="en-US" b="1" i="0" dirty="0">
                <a:solidFill>
                  <a:srgbClr val="EEF0FF"/>
                </a:solidFill>
                <a:effectLst/>
                <a:latin typeface="Google Sans"/>
              </a:rPr>
              <a:t>Clear Deliverables:</a:t>
            </a:r>
            <a:endParaRPr lang="en-US" b="0" i="0" dirty="0">
              <a:solidFill>
                <a:srgbClr val="EEF0FF"/>
              </a:solidFill>
              <a:effectLst/>
              <a:latin typeface="Google Sans"/>
            </a:endParaRPr>
          </a:p>
          <a:p>
            <a:pPr algn="l"/>
            <a:r>
              <a:rPr lang="en-US" b="0" i="0" dirty="0">
                <a:solidFill>
                  <a:srgbClr val="C3C6D6"/>
                </a:solidFill>
                <a:effectLst/>
                <a:latin typeface="Google Sans"/>
              </a:rPr>
              <a:t>Each phase has a distinct output that serves as the input for the subsequent phase, ensuring a structured workflow. </a:t>
            </a:r>
          </a:p>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10</a:t>
            </a:fld>
            <a:endParaRPr lang="en-US"/>
          </a:p>
        </p:txBody>
      </p:sp>
    </p:spTree>
    <p:extLst>
      <p:ext uri="{BB962C8B-B14F-4D97-AF65-F5344CB8AC3E}">
        <p14:creationId xmlns:p14="http://schemas.microsoft.com/office/powerpoint/2010/main" val="3285145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Key Characteristics</a:t>
            </a:r>
          </a:p>
          <a:p>
            <a:pPr algn="l"/>
            <a:r>
              <a:rPr lang="en-US" b="1" i="0" dirty="0">
                <a:solidFill>
                  <a:srgbClr val="EEF0FF"/>
                </a:solidFill>
                <a:effectLst/>
                <a:latin typeface="Google Sans"/>
              </a:rPr>
              <a:t>Iterative Development</a:t>
            </a:r>
            <a:r>
              <a:rPr lang="en-US" b="0" i="0" dirty="0">
                <a:solidFill>
                  <a:srgbClr val="EEF0FF"/>
                </a:solidFill>
                <a:effectLst/>
                <a:latin typeface="Google Sans"/>
              </a:rPr>
              <a:t>:</a:t>
            </a:r>
          </a:p>
          <a:p>
            <a:pPr algn="l" fontAlgn="ctr"/>
            <a:r>
              <a:rPr lang="en-US" b="0" i="0" dirty="0">
                <a:solidFill>
                  <a:srgbClr val="C3C6D6"/>
                </a:solidFill>
                <a:effectLst/>
                <a:latin typeface="Google Sans"/>
              </a:rPr>
              <a:t>Projects are broken down into smaller, manageable parts, with working software delivered after each iteration or </a:t>
            </a:r>
            <a:r>
              <a:rPr lang="en-US" b="0" i="0" dirty="0">
                <a:solidFill>
                  <a:srgbClr val="C3C6D6"/>
                </a:solidFill>
                <a:effectLst/>
                <a:latin typeface="Google Sans"/>
                <a:hlinkClick r:id="rId3"/>
              </a:rPr>
              <a:t>sprint</a:t>
            </a:r>
            <a:r>
              <a:rPr lang="en-US" b="0" i="0" dirty="0">
                <a:solidFill>
                  <a:srgbClr val="C3C6D6"/>
                </a:solidFill>
                <a:effectLst/>
                <a:latin typeface="Google Sans"/>
              </a:rPr>
              <a:t>. </a:t>
            </a:r>
            <a:endParaRPr lang="en-US" b="0" i="0" dirty="0">
              <a:solidFill>
                <a:srgbClr val="A8C7FA"/>
              </a:solidFill>
              <a:effectLst/>
              <a:latin typeface="Google Sans"/>
            </a:endParaRPr>
          </a:p>
          <a:p>
            <a:pPr algn="l"/>
            <a:r>
              <a:rPr lang="en-US" b="1" i="0" dirty="0">
                <a:solidFill>
                  <a:srgbClr val="EEF0FF"/>
                </a:solidFill>
                <a:effectLst/>
                <a:latin typeface="Google Sans"/>
              </a:rPr>
              <a:t>Incremental Delivery</a:t>
            </a:r>
            <a:r>
              <a:rPr lang="en-US" b="0" i="0" dirty="0">
                <a:solidFill>
                  <a:srgbClr val="EEF0FF"/>
                </a:solidFill>
                <a:effectLst/>
                <a:latin typeface="Google Sans"/>
              </a:rPr>
              <a:t>:</a:t>
            </a:r>
          </a:p>
          <a:p>
            <a:pPr algn="l" fontAlgn="ctr"/>
            <a:r>
              <a:rPr lang="en-US" b="0" i="0" dirty="0">
                <a:solidFill>
                  <a:srgbClr val="C3C6D6"/>
                </a:solidFill>
                <a:effectLst/>
                <a:latin typeface="Google Sans"/>
              </a:rPr>
              <a:t>Each iteration adds new features to the product, building upon previous work to reach the final customer-desired outcome. </a:t>
            </a:r>
            <a:endParaRPr lang="en-US" b="0" i="0" dirty="0">
              <a:solidFill>
                <a:srgbClr val="A8C7FA"/>
              </a:solidFill>
              <a:effectLst/>
              <a:latin typeface="Google Sans"/>
            </a:endParaRPr>
          </a:p>
          <a:p>
            <a:pPr algn="l"/>
            <a:r>
              <a:rPr lang="en-US" b="1" i="0" dirty="0">
                <a:solidFill>
                  <a:srgbClr val="EEF0FF"/>
                </a:solidFill>
                <a:effectLst/>
                <a:latin typeface="Google Sans"/>
              </a:rPr>
              <a:t>Continuous Feedback</a:t>
            </a:r>
            <a:r>
              <a:rPr lang="en-US" b="0" i="0" dirty="0">
                <a:solidFill>
                  <a:srgbClr val="EEF0FF"/>
                </a:solidFill>
                <a:effectLst/>
                <a:latin typeface="Google Sans"/>
              </a:rPr>
              <a:t>:</a:t>
            </a:r>
          </a:p>
          <a:p>
            <a:pPr algn="l" fontAlgn="ctr"/>
            <a:r>
              <a:rPr lang="en-US" b="0" i="0" dirty="0">
                <a:solidFill>
                  <a:srgbClr val="C3C6D6"/>
                </a:solidFill>
                <a:effectLst/>
                <a:latin typeface="Google Sans"/>
              </a:rPr>
              <a:t>Regular feedback loops between team members and stakeholders allow for quick adjustments and continuous improvement. </a:t>
            </a:r>
            <a:endParaRPr lang="en-US" b="0" i="0" dirty="0">
              <a:solidFill>
                <a:srgbClr val="A8C7FA"/>
              </a:solidFill>
              <a:effectLst/>
              <a:latin typeface="Google Sans"/>
            </a:endParaRPr>
          </a:p>
          <a:p>
            <a:pPr algn="l"/>
            <a:r>
              <a:rPr lang="en-US" b="1" i="0" dirty="0">
                <a:solidFill>
                  <a:srgbClr val="EEF0FF"/>
                </a:solidFill>
                <a:effectLst/>
                <a:latin typeface="Google Sans"/>
              </a:rPr>
              <a:t>Self-Organizing Teams</a:t>
            </a:r>
            <a:r>
              <a:rPr lang="en-US" b="0" i="0" dirty="0">
                <a:solidFill>
                  <a:srgbClr val="EEF0FF"/>
                </a:solidFill>
                <a:effectLst/>
                <a:latin typeface="Google Sans"/>
              </a:rPr>
              <a:t>:</a:t>
            </a:r>
          </a:p>
          <a:p>
            <a:pPr algn="l"/>
            <a:r>
              <a:rPr lang="en-US" b="0" i="0" dirty="0">
                <a:solidFill>
                  <a:srgbClr val="C3C6D6"/>
                </a:solidFill>
                <a:effectLst/>
                <a:latin typeface="Google Sans"/>
              </a:rPr>
              <a:t>Teams are empowered to make decisions about how to accomplish their work, fostering autonomy and collaboration. </a:t>
            </a:r>
          </a:p>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11</a:t>
            </a:fld>
            <a:endParaRPr lang="en-US"/>
          </a:p>
        </p:txBody>
      </p:sp>
    </p:spTree>
    <p:extLst>
      <p:ext uri="{BB962C8B-B14F-4D97-AF65-F5344CB8AC3E}">
        <p14:creationId xmlns:p14="http://schemas.microsoft.com/office/powerpoint/2010/main" val="2409539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Key Characteristics</a:t>
            </a:r>
          </a:p>
          <a:p>
            <a:pPr algn="l"/>
            <a:r>
              <a:rPr lang="en-US" b="1" i="0" dirty="0">
                <a:solidFill>
                  <a:srgbClr val="EEF0FF"/>
                </a:solidFill>
                <a:effectLst/>
                <a:latin typeface="Google Sans"/>
              </a:rPr>
              <a:t>Risk-Driven:</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primary focus is on managing potential risks, making it suitable for large, complex, and high-risk projects. </a:t>
            </a:r>
            <a:endParaRPr lang="en-US" b="0" i="0" dirty="0">
              <a:solidFill>
                <a:srgbClr val="A8C7FA"/>
              </a:solidFill>
              <a:effectLst/>
              <a:latin typeface="Google Sans"/>
            </a:endParaRPr>
          </a:p>
          <a:p>
            <a:pPr algn="l"/>
            <a:r>
              <a:rPr lang="en-US" b="1" i="0" dirty="0">
                <a:solidFill>
                  <a:srgbClr val="EEF0FF"/>
                </a:solidFill>
                <a:effectLst/>
                <a:latin typeface="Google Sans"/>
              </a:rPr>
              <a:t>Iterative &amp; Incremental:</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project progresses through multiple cycles (spirals), with each cycle adding functionality and refining the software. </a:t>
            </a:r>
            <a:endParaRPr lang="en-US" b="0" i="0" dirty="0">
              <a:solidFill>
                <a:srgbClr val="A8C7FA"/>
              </a:solidFill>
              <a:effectLst/>
              <a:latin typeface="Google Sans"/>
            </a:endParaRPr>
          </a:p>
          <a:p>
            <a:pPr algn="l"/>
            <a:r>
              <a:rPr lang="en-US" b="1" i="0" dirty="0">
                <a:solidFill>
                  <a:srgbClr val="EEF0FF"/>
                </a:solidFill>
                <a:effectLst/>
                <a:latin typeface="Google Sans"/>
              </a:rPr>
              <a:t>Customer Involvement:</a:t>
            </a:r>
            <a:endParaRPr lang="en-US" b="0" i="0" dirty="0">
              <a:solidFill>
                <a:srgbClr val="EEF0FF"/>
              </a:solidFill>
              <a:effectLst/>
              <a:latin typeface="Google Sans"/>
            </a:endParaRPr>
          </a:p>
          <a:p>
            <a:pPr algn="l" fontAlgn="ctr"/>
            <a:r>
              <a:rPr lang="en-US" b="0" i="0" dirty="0">
                <a:solidFill>
                  <a:srgbClr val="C3C6D6"/>
                </a:solidFill>
                <a:effectLst/>
                <a:latin typeface="Google Sans"/>
              </a:rPr>
              <a:t>Clients and stakeholders are actively involved throughout the process, providing feedback at the end of each iteration. </a:t>
            </a:r>
            <a:endParaRPr lang="en-US" b="0" i="0" dirty="0">
              <a:solidFill>
                <a:srgbClr val="A8C7FA"/>
              </a:solidFill>
              <a:effectLst/>
              <a:latin typeface="Google Sans"/>
            </a:endParaRPr>
          </a:p>
          <a:p>
            <a:pPr algn="l"/>
            <a:r>
              <a:rPr lang="en-US" b="1" i="0" dirty="0">
                <a:solidFill>
                  <a:srgbClr val="EEF0FF"/>
                </a:solidFill>
                <a:effectLst/>
                <a:latin typeface="Google Sans"/>
              </a:rPr>
              <a:t>Flexibility:</a:t>
            </a:r>
            <a:endParaRPr lang="en-US" b="0" i="0" dirty="0">
              <a:solidFill>
                <a:srgbClr val="EEF0FF"/>
              </a:solidFill>
              <a:effectLst/>
              <a:latin typeface="Google Sans"/>
            </a:endParaRPr>
          </a:p>
          <a:p>
            <a:pPr algn="l"/>
            <a:r>
              <a:rPr lang="en-US" b="0" i="0" dirty="0">
                <a:solidFill>
                  <a:srgbClr val="C3C6D6"/>
                </a:solidFill>
                <a:effectLst/>
                <a:latin typeface="Google Sans"/>
              </a:rPr>
              <a:t>The iterative nature allows for changes in requirements to be incorporated into subsequent spirals, making it adaptable. </a:t>
            </a:r>
          </a:p>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12</a:t>
            </a:fld>
            <a:endParaRPr lang="en-US"/>
          </a:p>
        </p:txBody>
      </p:sp>
    </p:spTree>
    <p:extLst>
      <p:ext uri="{BB962C8B-B14F-4D97-AF65-F5344CB8AC3E}">
        <p14:creationId xmlns:p14="http://schemas.microsoft.com/office/powerpoint/2010/main" val="284935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Key Characteristics</a:t>
            </a:r>
          </a:p>
          <a:p>
            <a:pPr algn="l"/>
            <a:r>
              <a:rPr lang="en-US" b="1" i="0" dirty="0">
                <a:solidFill>
                  <a:srgbClr val="EEF0FF"/>
                </a:solidFill>
                <a:effectLst/>
                <a:latin typeface="Google Sans"/>
              </a:rPr>
              <a:t>Incremental Development</a:t>
            </a:r>
            <a:r>
              <a:rPr lang="en-US" b="0" i="0" dirty="0">
                <a:solidFill>
                  <a:srgbClr val="EEF0FF"/>
                </a:solidFill>
                <a:effectLst/>
                <a:latin typeface="Google Sans"/>
              </a:rPr>
              <a:t>:</a:t>
            </a:r>
          </a:p>
          <a:p>
            <a:pPr algn="l" fontAlgn="ctr"/>
            <a:r>
              <a:rPr lang="en-US" b="0" i="0" dirty="0">
                <a:solidFill>
                  <a:srgbClr val="C3C6D6"/>
                </a:solidFill>
                <a:effectLst/>
                <a:latin typeface="Google Sans"/>
              </a:rPr>
              <a:t>New features are added in stages, leading to a more complete product with each iteration. </a:t>
            </a:r>
            <a:endParaRPr lang="en-US" b="0" i="0" dirty="0">
              <a:solidFill>
                <a:srgbClr val="A8C7FA"/>
              </a:solidFill>
              <a:effectLst/>
              <a:latin typeface="Google Sans"/>
            </a:endParaRPr>
          </a:p>
          <a:p>
            <a:pPr algn="l"/>
            <a:r>
              <a:rPr lang="en-US" b="1" i="0" dirty="0">
                <a:solidFill>
                  <a:srgbClr val="EEF0FF"/>
                </a:solidFill>
                <a:effectLst/>
                <a:latin typeface="Google Sans"/>
              </a:rPr>
              <a:t>Adaptability</a:t>
            </a:r>
            <a:r>
              <a:rPr lang="en-US" b="0" i="0" dirty="0">
                <a:solidFill>
                  <a:srgbClr val="EEF0FF"/>
                </a:solidFill>
                <a:effectLst/>
                <a:latin typeface="Google Sans"/>
              </a:rPr>
              <a:t>:</a:t>
            </a:r>
          </a:p>
          <a:p>
            <a:pPr algn="l" fontAlgn="ctr"/>
            <a:r>
              <a:rPr lang="en-US" b="0" i="0" dirty="0">
                <a:solidFill>
                  <a:srgbClr val="C3C6D6"/>
                </a:solidFill>
                <a:effectLst/>
                <a:latin typeface="Google Sans"/>
              </a:rPr>
              <a:t>It is flexible and can adapt to changing requirements or new features that emerge during development. </a:t>
            </a:r>
            <a:endParaRPr lang="en-US" b="0" i="0" dirty="0">
              <a:solidFill>
                <a:srgbClr val="A8C7FA"/>
              </a:solidFill>
              <a:effectLst/>
              <a:latin typeface="Google Sans"/>
            </a:endParaRPr>
          </a:p>
          <a:p>
            <a:pPr algn="l"/>
            <a:r>
              <a:rPr lang="en-US" b="1" i="0" dirty="0">
                <a:solidFill>
                  <a:srgbClr val="EEF0FF"/>
                </a:solidFill>
                <a:effectLst/>
                <a:latin typeface="Google Sans"/>
              </a:rPr>
              <a:t>Early Feedback</a:t>
            </a:r>
            <a:r>
              <a:rPr lang="en-US" b="0" i="0" dirty="0">
                <a:solidFill>
                  <a:srgbClr val="EEF0FF"/>
                </a:solidFill>
                <a:effectLst/>
                <a:latin typeface="Google Sans"/>
              </a:rPr>
              <a:t>:</a:t>
            </a:r>
          </a:p>
          <a:p>
            <a:pPr algn="l" fontAlgn="ctr"/>
            <a:r>
              <a:rPr lang="en-US" b="0" i="0" dirty="0">
                <a:solidFill>
                  <a:srgbClr val="C3C6D6"/>
                </a:solidFill>
                <a:effectLst/>
                <a:latin typeface="Google Sans"/>
              </a:rPr>
              <a:t>Customer and stakeholder feedback is incorporated early and often, helping to guide the development process. </a:t>
            </a:r>
            <a:endParaRPr lang="en-US" b="0" i="0" dirty="0">
              <a:solidFill>
                <a:srgbClr val="A8C7FA"/>
              </a:solidFill>
              <a:effectLst/>
              <a:latin typeface="Google Sans"/>
            </a:endParaRPr>
          </a:p>
          <a:p>
            <a:pPr algn="l"/>
            <a:r>
              <a:rPr lang="en-US" b="1" i="0" dirty="0">
                <a:solidFill>
                  <a:srgbClr val="EEF0FF"/>
                </a:solidFill>
                <a:effectLst/>
                <a:latin typeface="Google Sans"/>
              </a:rPr>
              <a:t>Risk Reduction</a:t>
            </a:r>
            <a:r>
              <a:rPr lang="en-US" b="0" i="0" dirty="0">
                <a:solidFill>
                  <a:srgbClr val="EEF0FF"/>
                </a:solidFill>
                <a:effectLst/>
                <a:latin typeface="Google Sans"/>
              </a:rPr>
              <a:t>:</a:t>
            </a:r>
          </a:p>
          <a:p>
            <a:pPr algn="l"/>
            <a:r>
              <a:rPr lang="en-US" b="0" i="0" dirty="0">
                <a:solidFill>
                  <a:srgbClr val="C3C6D6"/>
                </a:solidFill>
                <a:effectLst/>
                <a:latin typeface="Google Sans"/>
              </a:rPr>
              <a:t>Risks can be identified and mitigated in the early stages of each iteration, reducing the likelihood of major issues later on. </a:t>
            </a:r>
          </a:p>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13</a:t>
            </a:fld>
            <a:endParaRPr lang="en-US"/>
          </a:p>
        </p:txBody>
      </p:sp>
    </p:spTree>
    <p:extLst>
      <p:ext uri="{BB962C8B-B14F-4D97-AF65-F5344CB8AC3E}">
        <p14:creationId xmlns:p14="http://schemas.microsoft.com/office/powerpoint/2010/main" val="15015095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How the V-Model Works</a:t>
            </a:r>
          </a:p>
          <a:p>
            <a:pPr algn="l"/>
            <a:r>
              <a:rPr lang="en-US" b="1" i="0" dirty="0">
                <a:solidFill>
                  <a:srgbClr val="EEF0FF"/>
                </a:solidFill>
                <a:effectLst/>
                <a:latin typeface="Google Sans"/>
              </a:rPr>
              <a:t>Sequential Phases:</a:t>
            </a:r>
            <a:endParaRPr lang="en-US" b="0" i="0" dirty="0">
              <a:solidFill>
                <a:srgbClr val="EEF0FF"/>
              </a:solidFill>
              <a:effectLst/>
              <a:latin typeface="Google Sans"/>
            </a:endParaRPr>
          </a:p>
          <a:p>
            <a:pPr algn="l" fontAlgn="ctr"/>
            <a:r>
              <a:rPr lang="en-US" b="0" i="0" dirty="0">
                <a:solidFill>
                  <a:srgbClr val="C3C6D6"/>
                </a:solidFill>
                <a:effectLst/>
                <a:latin typeface="Google Sans"/>
              </a:rPr>
              <a:t>Like the Waterfall model, the V-model follows a strict sequential process where each phase must be completed before the next begins. </a:t>
            </a:r>
            <a:endParaRPr lang="en-US" b="0" i="0" dirty="0">
              <a:solidFill>
                <a:srgbClr val="A8C7FA"/>
              </a:solidFill>
              <a:effectLst/>
              <a:latin typeface="Google Sans"/>
            </a:endParaRPr>
          </a:p>
          <a:p>
            <a:pPr algn="l"/>
            <a:r>
              <a:rPr lang="en-US" b="1" i="0" dirty="0">
                <a:solidFill>
                  <a:srgbClr val="EEF0FF"/>
                </a:solidFill>
                <a:effectLst/>
                <a:latin typeface="Google Sans"/>
              </a:rPr>
              <a:t>Verification on the Left:</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left side of the "V" represents the development process, where requirements are broken down and specifications are defined. </a:t>
            </a:r>
            <a:endParaRPr lang="en-US" b="0" i="0" dirty="0">
              <a:solidFill>
                <a:srgbClr val="A8C7FA"/>
              </a:solidFill>
              <a:effectLst/>
              <a:latin typeface="Google Sans"/>
            </a:endParaRPr>
          </a:p>
          <a:p>
            <a:pPr algn="l"/>
            <a:r>
              <a:rPr lang="en-US" b="1" i="0" dirty="0">
                <a:solidFill>
                  <a:srgbClr val="EEF0FF"/>
                </a:solidFill>
                <a:effectLst/>
                <a:latin typeface="Google Sans"/>
              </a:rPr>
              <a:t>Validation on the Right:</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right side of the "V" represents the corresponding testing activities, where the developed components are assembled and tested to ensure they meet the requirements from the left side. </a:t>
            </a:r>
            <a:endParaRPr lang="en-US" b="0" i="0" dirty="0">
              <a:solidFill>
                <a:srgbClr val="A8C7FA"/>
              </a:solidFill>
              <a:effectLst/>
              <a:latin typeface="Google Sans"/>
            </a:endParaRPr>
          </a:p>
          <a:p>
            <a:pPr algn="l"/>
            <a:r>
              <a:rPr lang="en-US" b="1" i="0" dirty="0">
                <a:solidFill>
                  <a:srgbClr val="EEF0FF"/>
                </a:solidFill>
                <a:effectLst/>
                <a:latin typeface="Google Sans"/>
              </a:rPr>
              <a:t>Parallel Activities:</a:t>
            </a:r>
            <a:endParaRPr lang="en-US" b="0" i="0" dirty="0">
              <a:solidFill>
                <a:srgbClr val="EEF0FF"/>
              </a:solidFill>
              <a:effectLst/>
              <a:latin typeface="Google Sans"/>
            </a:endParaRPr>
          </a:p>
          <a:p>
            <a:pPr algn="l"/>
            <a:r>
              <a:rPr lang="en-US" b="0" i="0" dirty="0">
                <a:solidFill>
                  <a:srgbClr val="C3C6D6"/>
                </a:solidFill>
                <a:effectLst/>
                <a:latin typeface="Google Sans"/>
              </a:rPr>
              <a:t>Testing activities are planned in parallel with their corresponding development phases, allowing for early detection and prevention of defects. </a:t>
            </a:r>
          </a:p>
        </p:txBody>
      </p:sp>
      <p:sp>
        <p:nvSpPr>
          <p:cNvPr id="4" name="Slide Number Placeholder 3"/>
          <p:cNvSpPr>
            <a:spLocks noGrp="1"/>
          </p:cNvSpPr>
          <p:nvPr>
            <p:ph type="sldNum" sz="quarter" idx="5"/>
          </p:nvPr>
        </p:nvSpPr>
        <p:spPr/>
        <p:txBody>
          <a:bodyPr/>
          <a:lstStyle/>
          <a:p>
            <a:fld id="{CA38F747-9C8D-48E7-808E-AD6EAFC81271}" type="slidenum">
              <a:rPr lang="en-US" smtClean="0"/>
              <a:t>14</a:t>
            </a:fld>
            <a:endParaRPr lang="en-US"/>
          </a:p>
        </p:txBody>
      </p:sp>
    </p:spTree>
    <p:extLst>
      <p:ext uri="{BB962C8B-B14F-4D97-AF65-F5344CB8AC3E}">
        <p14:creationId xmlns:p14="http://schemas.microsoft.com/office/powerpoint/2010/main" val="34819641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F0FF"/>
                </a:solidFill>
                <a:effectLst/>
                <a:latin typeface="Google Sans"/>
              </a:rPr>
              <a:t>Core Principles</a:t>
            </a:r>
          </a:p>
          <a:p>
            <a:pPr algn="l">
              <a:buFont typeface="Arial" panose="020B0604020202020204" pitchFamily="34" charset="0"/>
              <a:buChar char="•"/>
            </a:pPr>
            <a:r>
              <a:rPr lang="en-US" b="1" i="0" dirty="0">
                <a:solidFill>
                  <a:srgbClr val="EEF0FF"/>
                </a:solidFill>
                <a:effectLst/>
                <a:latin typeface="Google Sans"/>
              </a:rPr>
              <a:t>Collaboration:</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Development and operations teams, along with quality assurance and security, work together as a single, unified team, taking end-to-end responsibility for a product's success. </a:t>
            </a:r>
            <a:endParaRPr lang="en-US" b="0" i="0" dirty="0">
              <a:solidFill>
                <a:srgbClr val="A8C7FA"/>
              </a:solidFill>
              <a:effectLst/>
              <a:latin typeface="Google Sans"/>
            </a:endParaRPr>
          </a:p>
          <a:p>
            <a:pPr algn="l">
              <a:buFont typeface="Arial" panose="020B0604020202020204" pitchFamily="34" charset="0"/>
              <a:buChar char="•"/>
            </a:pPr>
            <a:r>
              <a:rPr lang="en-US" b="1" i="0" dirty="0">
                <a:solidFill>
                  <a:srgbClr val="EEF0FF"/>
                </a:solidFill>
                <a:effectLst/>
                <a:latin typeface="Google Sans"/>
              </a:rPr>
              <a:t>Automation:</a:t>
            </a:r>
            <a:endParaRPr lang="en-US" b="0" i="0" dirty="0">
              <a:solidFill>
                <a:srgbClr val="EEF0FF"/>
              </a:solidFill>
              <a:effectLst/>
              <a:latin typeface="Google Sans"/>
            </a:endParaRPr>
          </a:p>
          <a:p>
            <a:pPr algn="l" fontAlgn="ctr">
              <a:buFont typeface="Arial" panose="020B0604020202020204" pitchFamily="34" charset="0"/>
              <a:buChar char="•"/>
            </a:pPr>
            <a:r>
              <a:rPr lang="en-US" b="0" i="0" dirty="0">
                <a:solidFill>
                  <a:srgbClr val="C3C6D6"/>
                </a:solidFill>
                <a:effectLst/>
                <a:latin typeface="Google Sans"/>
              </a:rPr>
              <a:t>Repetitive tasks in the software delivery process are automated, including coding, building, testing, and deployment, to reduce errors and increase speed. </a:t>
            </a:r>
            <a:endParaRPr lang="en-US" b="0" i="0" dirty="0">
              <a:solidFill>
                <a:srgbClr val="A8C7FA"/>
              </a:solidFill>
              <a:effectLst/>
              <a:latin typeface="Google Sans"/>
            </a:endParaRPr>
          </a:p>
          <a:p>
            <a:pPr algn="l"/>
            <a:r>
              <a:rPr lang="en-US" b="1" i="0" dirty="0">
                <a:solidFill>
                  <a:srgbClr val="EEF0FF"/>
                </a:solidFill>
                <a:effectLst/>
                <a:latin typeface="Google Sans"/>
              </a:rPr>
              <a:t>Continuous Improvement:</a:t>
            </a:r>
            <a:endParaRPr lang="en-US" b="0" i="0" dirty="0">
              <a:solidFill>
                <a:srgbClr val="EEF0FF"/>
              </a:solidFill>
              <a:effectLst/>
              <a:latin typeface="Google Sans"/>
            </a:endParaRPr>
          </a:p>
          <a:p>
            <a:pPr algn="l" fontAlgn="ctr"/>
            <a:r>
              <a:rPr lang="en-US" b="0" i="0" dirty="0">
                <a:solidFill>
                  <a:srgbClr val="C3C6D6"/>
                </a:solidFill>
                <a:effectLst/>
                <a:latin typeface="Google Sans"/>
              </a:rPr>
              <a:t>The model emphasizes rapid, iterative development and deployment, with continuous feedback loops to quickly identify and resolve issues, allowing for constant evolution of products. </a:t>
            </a:r>
            <a:endParaRPr lang="en-US" b="0" i="0" dirty="0">
              <a:solidFill>
                <a:srgbClr val="A8C7FA"/>
              </a:solidFill>
              <a:effectLst/>
              <a:latin typeface="Google Sans"/>
            </a:endParaRPr>
          </a:p>
          <a:p>
            <a:pPr algn="l"/>
            <a:r>
              <a:rPr lang="en-US" b="1" i="0" dirty="0">
                <a:solidFill>
                  <a:srgbClr val="EEF0FF"/>
                </a:solidFill>
                <a:effectLst/>
                <a:latin typeface="Google Sans"/>
              </a:rPr>
              <a:t>Shared Responsibility:</a:t>
            </a:r>
            <a:endParaRPr lang="en-US" b="0" i="0" dirty="0">
              <a:solidFill>
                <a:srgbClr val="EEF0FF"/>
              </a:solidFill>
              <a:effectLst/>
              <a:latin typeface="Google Sans"/>
            </a:endParaRPr>
          </a:p>
          <a:p>
            <a:pPr algn="l"/>
            <a:r>
              <a:rPr lang="en-US" b="0" i="0" dirty="0">
                <a:solidFill>
                  <a:srgbClr val="C3C6D6"/>
                </a:solidFill>
                <a:effectLst/>
                <a:latin typeface="Google Sans"/>
              </a:rPr>
              <a:t>Everyone involved in the product lifecycle is responsible for its quality, fostering a culture of shared ownership. </a:t>
            </a:r>
          </a:p>
          <a:p>
            <a:endParaRPr lang="en-US" dirty="0"/>
          </a:p>
        </p:txBody>
      </p:sp>
      <p:sp>
        <p:nvSpPr>
          <p:cNvPr id="4" name="Slide Number Placeholder 3"/>
          <p:cNvSpPr>
            <a:spLocks noGrp="1"/>
          </p:cNvSpPr>
          <p:nvPr>
            <p:ph type="sldNum" sz="quarter" idx="5"/>
          </p:nvPr>
        </p:nvSpPr>
        <p:spPr/>
        <p:txBody>
          <a:bodyPr/>
          <a:lstStyle/>
          <a:p>
            <a:fld id="{CA38F747-9C8D-48E7-808E-AD6EAFC81271}" type="slidenum">
              <a:rPr lang="en-US" smtClean="0"/>
              <a:t>15</a:t>
            </a:fld>
            <a:endParaRPr lang="en-US"/>
          </a:p>
        </p:txBody>
      </p:sp>
    </p:spTree>
    <p:extLst>
      <p:ext uri="{BB962C8B-B14F-4D97-AF65-F5344CB8AC3E}">
        <p14:creationId xmlns:p14="http://schemas.microsoft.com/office/powerpoint/2010/main" val="23109174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b="1" dirty="0"/>
              <a:t>Introduction to Application Development</a:t>
            </a:r>
            <a:br>
              <a:rPr lang="en-US" dirty="0"/>
            </a:br>
            <a:r>
              <a:rPr lang="en-US" sz="2700" dirty="0"/>
              <a:t>SDLC &amp; Trends</a:t>
            </a:r>
            <a:endParaRPr dirty="0"/>
          </a:p>
        </p:txBody>
      </p:sp>
      <p:sp>
        <p:nvSpPr>
          <p:cNvPr id="3" name="Subtitle 2"/>
          <p:cNvSpPr>
            <a:spLocks noGrp="1"/>
          </p:cNvSpPr>
          <p:nvPr>
            <p:ph type="subTitle" idx="1"/>
          </p:nvPr>
        </p:nvSpPr>
        <p:spPr>
          <a:xfrm>
            <a:off x="933450" y="4441825"/>
            <a:ext cx="7277100" cy="1028700"/>
          </a:xfrm>
        </p:spPr>
        <p:txBody>
          <a:bodyPr>
            <a:normAutofit lnSpcReduction="10000"/>
          </a:bodyPr>
          <a:lstStyle/>
          <a:p>
            <a:r>
              <a:rPr sz="2800" dirty="0"/>
              <a:t>Instructor: </a:t>
            </a:r>
            <a:r>
              <a:rPr lang="en-US" sz="2800" dirty="0"/>
              <a:t>Engr. Andrew </a:t>
            </a:r>
            <a:r>
              <a:rPr lang="en-US" sz="2800" dirty="0" err="1"/>
              <a:t>Gallemit</a:t>
            </a:r>
            <a:r>
              <a:rPr lang="en-US" sz="2800" dirty="0"/>
              <a:t>, </a:t>
            </a:r>
            <a:r>
              <a:rPr lang="en-US" sz="2800" dirty="0" err="1"/>
              <a:t>CpE</a:t>
            </a:r>
            <a:r>
              <a:rPr lang="en-US" sz="2800" dirty="0"/>
              <a:t>, MSIT</a:t>
            </a:r>
            <a:endParaRPr sz="2800" dirty="0"/>
          </a:p>
          <a:p>
            <a:r>
              <a:rPr sz="2800" dirty="0"/>
              <a:t>Co</a:t>
            </a:r>
            <a:r>
              <a:rPr lang="en-US" sz="2800" dirty="0"/>
              <a:t>llege of Computing Studies</a:t>
            </a:r>
            <a:endParaRPr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a:xfrm>
            <a:off x="457200" y="2352676"/>
            <a:ext cx="8229600" cy="2438400"/>
          </a:xfrm>
        </p:spPr>
        <p:txBody>
          <a:bodyPr/>
          <a:lstStyle/>
          <a:p>
            <a:r>
              <a:rPr dirty="0"/>
              <a:t>Define SDLC &amp; its importance</a:t>
            </a:r>
          </a:p>
          <a:p>
            <a:r>
              <a:rPr dirty="0"/>
              <a:t>Describe SDLC phases &amp; methodologies</a:t>
            </a:r>
          </a:p>
          <a:p>
            <a:r>
              <a:rPr dirty="0"/>
              <a:t>Identify current trends in app development</a:t>
            </a:r>
          </a:p>
          <a:p>
            <a:r>
              <a:rPr dirty="0"/>
              <a:t>Apply SDLC knowledge to a case study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Application Development?</a:t>
            </a:r>
          </a:p>
        </p:txBody>
      </p:sp>
      <p:sp>
        <p:nvSpPr>
          <p:cNvPr id="3" name="Content Placeholder 2"/>
          <p:cNvSpPr>
            <a:spLocks noGrp="1"/>
          </p:cNvSpPr>
          <p:nvPr>
            <p:ph idx="1"/>
          </p:nvPr>
        </p:nvSpPr>
        <p:spPr/>
        <p:txBody>
          <a:bodyPr>
            <a:normAutofit/>
          </a:bodyPr>
          <a:lstStyle/>
          <a:p>
            <a:pPr marL="0" marR="0" indent="0" algn="just">
              <a:buNone/>
            </a:pPr>
            <a:r>
              <a:rPr lang="en-PH" dirty="0">
                <a:effectLst/>
                <a:latin typeface="Times New Roman" panose="02020603050405020304" pitchFamily="18" charset="0"/>
                <a:ea typeface="Times New Roman" panose="02020603050405020304" pitchFamily="18" charset="0"/>
              </a:rPr>
              <a:t>	is the systematic process of designing, creating, testing, and deploying software applications for desktops, mobile devices, or the web to meet specific needs or solve business challenges. It encompasses the entire application lifecycle, from initial planning and requirements gathering to ongoing maintenance and support, and involves various phases like design, coding, testing, and launching.</a:t>
            </a:r>
            <a:endParaRPr lang="en-US" dirty="0">
              <a:effectLst/>
              <a:latin typeface="Times New Roman" panose="02020603050405020304" pitchFamily="18" charset="0"/>
              <a:ea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61370-CAAE-4E20-A706-CB7283EA7E07}"/>
              </a:ext>
            </a:extLst>
          </p:cNvPr>
          <p:cNvSpPr>
            <a:spLocks noGrp="1"/>
          </p:cNvSpPr>
          <p:nvPr>
            <p:ph type="title"/>
          </p:nvPr>
        </p:nvSpPr>
        <p:spPr/>
        <p:txBody>
          <a:bodyPr>
            <a:normAutofit fontScale="90000"/>
          </a:bodyPr>
          <a:lstStyle/>
          <a:p>
            <a:r>
              <a:rPr lang="en-US" dirty="0"/>
              <a:t>The Application Development Process</a:t>
            </a:r>
          </a:p>
        </p:txBody>
      </p:sp>
      <p:sp>
        <p:nvSpPr>
          <p:cNvPr id="5" name="TextBox 4">
            <a:extLst>
              <a:ext uri="{FF2B5EF4-FFF2-40B4-BE49-F238E27FC236}">
                <a16:creationId xmlns:a16="http://schemas.microsoft.com/office/drawing/2014/main" id="{17A6F7EC-767E-487D-A75C-BAA763AC1B85}"/>
              </a:ext>
            </a:extLst>
          </p:cNvPr>
          <p:cNvSpPr txBox="1"/>
          <p:nvPr/>
        </p:nvSpPr>
        <p:spPr>
          <a:xfrm>
            <a:off x="457200" y="1629746"/>
            <a:ext cx="8103704" cy="4401205"/>
          </a:xfrm>
          <a:prstGeom prst="rect">
            <a:avLst/>
          </a:prstGeom>
          <a:noFill/>
        </p:spPr>
        <p:txBody>
          <a:bodyPr wrap="square">
            <a:spAutoFit/>
          </a:bodyPr>
          <a:lstStyle/>
          <a:p>
            <a:pPr marL="0" marR="0" indent="457200" algn="just"/>
            <a:r>
              <a:rPr lang="en-PH" sz="2800" dirty="0">
                <a:effectLst/>
                <a:latin typeface="Times New Roman" panose="02020603050405020304" pitchFamily="18" charset="0"/>
                <a:ea typeface="Times New Roman" panose="02020603050405020304" pitchFamily="18" charset="0"/>
              </a:rPr>
              <a:t>Application development follows a series of phases, often referred to as the Software Development Lifecycle (SDLC): </a:t>
            </a:r>
            <a:endParaRPr lang="en-US" sz="2800" dirty="0">
              <a:effectLst/>
              <a:latin typeface="Times New Roman" panose="02020603050405020304" pitchFamily="18" charset="0"/>
              <a:ea typeface="Times New Roman" panose="02020603050405020304" pitchFamily="18" charset="0"/>
            </a:endParaRPr>
          </a:p>
          <a:p>
            <a:pPr marL="463550" marR="0" indent="-463550" algn="just"/>
            <a:r>
              <a:rPr lang="en-PH" sz="2800" dirty="0">
                <a:effectLst/>
                <a:latin typeface="Times New Roman" panose="02020603050405020304" pitchFamily="18" charset="0"/>
                <a:ea typeface="Times New Roman" panose="02020603050405020304" pitchFamily="18" charset="0"/>
              </a:rPr>
              <a:t>1. Planning: Identifying the application's purpose, target users, and requirements, as well as outlining the project's goals and scope. </a:t>
            </a:r>
            <a:endParaRPr lang="en-US" sz="2800" dirty="0">
              <a:effectLst/>
              <a:latin typeface="Times New Roman" panose="02020603050405020304" pitchFamily="18" charset="0"/>
              <a:ea typeface="Times New Roman" panose="02020603050405020304" pitchFamily="18" charset="0"/>
            </a:endParaRPr>
          </a:p>
          <a:p>
            <a:pPr marL="463550" marR="0" indent="-463550" algn="just"/>
            <a:r>
              <a:rPr lang="en-PH" sz="2800" dirty="0">
                <a:effectLst/>
                <a:latin typeface="Times New Roman" panose="02020603050405020304" pitchFamily="18" charset="0"/>
                <a:ea typeface="Times New Roman" panose="02020603050405020304" pitchFamily="18" charset="0"/>
              </a:rPr>
              <a:t>2. Design: Creating blueprints for the application, including user interface (UI) and user experience (UX) design, wireframes, and selecting the necessary tools and technologies. </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657312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2ED9222-A8E8-43B5-820A-2B11A00638B9}"/>
              </a:ext>
            </a:extLst>
          </p:cNvPr>
          <p:cNvSpPr txBox="1"/>
          <p:nvPr/>
        </p:nvSpPr>
        <p:spPr>
          <a:xfrm>
            <a:off x="437322" y="797510"/>
            <a:ext cx="8269356" cy="5693866"/>
          </a:xfrm>
          <a:prstGeom prst="rect">
            <a:avLst/>
          </a:prstGeom>
          <a:noFill/>
        </p:spPr>
        <p:txBody>
          <a:bodyPr wrap="square">
            <a:spAutoFit/>
          </a:bodyPr>
          <a:lstStyle/>
          <a:p>
            <a:pPr marL="463550" marR="0" indent="-463550" algn="just"/>
            <a:r>
              <a:rPr lang="en-PH" sz="2800" dirty="0">
                <a:effectLst/>
                <a:latin typeface="Times New Roman" panose="02020603050405020304" pitchFamily="18" charset="0"/>
                <a:ea typeface="Times New Roman" panose="02020603050405020304" pitchFamily="18" charset="0"/>
              </a:rPr>
              <a:t>3. Development/Coding: Building the application by writing the actual code for both the front-end (user-facing parts) and the back-end (server-side logic). </a:t>
            </a:r>
            <a:endParaRPr lang="en-US" sz="2800" dirty="0">
              <a:effectLst/>
              <a:latin typeface="Times New Roman" panose="02020603050405020304" pitchFamily="18" charset="0"/>
              <a:ea typeface="Times New Roman" panose="02020603050405020304" pitchFamily="18" charset="0"/>
            </a:endParaRPr>
          </a:p>
          <a:p>
            <a:pPr marL="463550" marR="0" indent="-463550" algn="just"/>
            <a:r>
              <a:rPr lang="en-PH" sz="2800" dirty="0">
                <a:effectLst/>
                <a:latin typeface="Times New Roman" panose="02020603050405020304" pitchFamily="18" charset="0"/>
                <a:ea typeface="Times New Roman" panose="02020603050405020304" pitchFamily="18" charset="0"/>
              </a:rPr>
              <a:t>4. Testing: Thoroughly testing the application across various scenarios to find and fix bugs, security vulnerabilities, and usability issues. </a:t>
            </a:r>
            <a:endParaRPr lang="en-US" sz="2800" dirty="0">
              <a:effectLst/>
              <a:latin typeface="Times New Roman" panose="02020603050405020304" pitchFamily="18" charset="0"/>
              <a:ea typeface="Times New Roman" panose="02020603050405020304" pitchFamily="18" charset="0"/>
            </a:endParaRPr>
          </a:p>
          <a:p>
            <a:pPr marL="463550" marR="0" indent="-463550" algn="just"/>
            <a:r>
              <a:rPr lang="en-PH" sz="2800" dirty="0">
                <a:effectLst/>
                <a:latin typeface="Times New Roman" panose="02020603050405020304" pitchFamily="18" charset="0"/>
                <a:ea typeface="Times New Roman" panose="02020603050405020304" pitchFamily="18" charset="0"/>
              </a:rPr>
              <a:t>5. Deployment: Releasing the application to a production server or marketplace, making it available for end-users. </a:t>
            </a:r>
            <a:endParaRPr lang="en-US" sz="2800" dirty="0">
              <a:effectLst/>
              <a:latin typeface="Times New Roman" panose="02020603050405020304" pitchFamily="18" charset="0"/>
              <a:ea typeface="Times New Roman" panose="02020603050405020304" pitchFamily="18" charset="0"/>
            </a:endParaRPr>
          </a:p>
          <a:p>
            <a:pPr marL="463550" marR="0" indent="-463550" algn="just"/>
            <a:r>
              <a:rPr lang="en-PH" sz="2800" dirty="0">
                <a:effectLst/>
                <a:latin typeface="Times New Roman" panose="02020603050405020304" pitchFamily="18" charset="0"/>
                <a:ea typeface="Times New Roman" panose="02020603050405020304" pitchFamily="18" charset="0"/>
              </a:rPr>
              <a:t>6. Maintenance: Providing ongoing support, fixing new issues, implementing updates, and managing changes to keep the application functional and secure over time.</a:t>
            </a:r>
            <a:endParaRPr lang="en-US" sz="28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8890761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88D38-A138-44FA-8C7F-8E2D2C8FB1E7}"/>
              </a:ext>
            </a:extLst>
          </p:cNvPr>
          <p:cNvSpPr>
            <a:spLocks noGrp="1"/>
          </p:cNvSpPr>
          <p:nvPr>
            <p:ph type="title"/>
          </p:nvPr>
        </p:nvSpPr>
        <p:spPr/>
        <p:txBody>
          <a:bodyPr/>
          <a:lstStyle/>
          <a:p>
            <a:r>
              <a:rPr lang="en-US" b="1" dirty="0"/>
              <a:t>Why It Matters</a:t>
            </a:r>
          </a:p>
        </p:txBody>
      </p:sp>
      <p:sp>
        <p:nvSpPr>
          <p:cNvPr id="3" name="Content Placeholder 2">
            <a:extLst>
              <a:ext uri="{FF2B5EF4-FFF2-40B4-BE49-F238E27FC236}">
                <a16:creationId xmlns:a16="http://schemas.microsoft.com/office/drawing/2014/main" id="{2D8051A7-59E0-43B6-8D6B-62B2C6B18DB1}"/>
              </a:ext>
            </a:extLst>
          </p:cNvPr>
          <p:cNvSpPr>
            <a:spLocks noGrp="1"/>
          </p:cNvSpPr>
          <p:nvPr>
            <p:ph idx="1"/>
          </p:nvPr>
        </p:nvSpPr>
        <p:spPr/>
        <p:txBody>
          <a:bodyPr>
            <a:normAutofit fontScale="92500"/>
          </a:bodyPr>
          <a:lstStyle/>
          <a:p>
            <a:pPr marL="292100" indent="-292100" algn="just">
              <a:spcBef>
                <a:spcPts val="0"/>
              </a:spcBef>
            </a:pPr>
            <a:r>
              <a:rPr lang="en-PH" sz="2800" b="1" dirty="0">
                <a:effectLst/>
                <a:latin typeface="Times New Roman" panose="02020603050405020304" pitchFamily="18" charset="0"/>
                <a:ea typeface="Times New Roman" panose="02020603050405020304" pitchFamily="18" charset="0"/>
                <a:cs typeface="Times New Roman" panose="02020603050405020304" pitchFamily="18" charset="0"/>
              </a:rPr>
              <a:t>Businesses: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92100" indent="-292100" algn="just">
              <a:spcBef>
                <a:spcPts val="0"/>
              </a:spcBef>
              <a:buNone/>
            </a:pPr>
            <a:r>
              <a:rPr lang="en-PH" sz="2800" dirty="0">
                <a:effectLst/>
                <a:latin typeface="Times New Roman" panose="02020603050405020304" pitchFamily="18" charset="0"/>
                <a:ea typeface="Times New Roman" panose="02020603050405020304" pitchFamily="18" charset="0"/>
                <a:cs typeface="Times New Roman" panose="02020603050405020304" pitchFamily="18" charset="0"/>
              </a:rPr>
              <a:t>Companies use application development to streamline operations, automate tasks, and improve customer service. </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92100" indent="-292100" algn="just">
              <a:spcBef>
                <a:spcPts val="0"/>
              </a:spcBef>
            </a:pPr>
            <a:r>
              <a:rPr lang="en-PH" sz="2800" b="1" dirty="0">
                <a:effectLst/>
                <a:latin typeface="Times New Roman" panose="02020603050405020304" pitchFamily="18" charset="0"/>
                <a:ea typeface="Times New Roman" panose="02020603050405020304" pitchFamily="18" charset="0"/>
                <a:cs typeface="Times New Roman" panose="02020603050405020304" pitchFamily="18" charset="0"/>
              </a:rPr>
              <a:t>Users: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92100" indent="-292100" algn="just">
              <a:spcBef>
                <a:spcPts val="0"/>
              </a:spcBef>
              <a:buNone/>
            </a:pPr>
            <a:r>
              <a:rPr lang="en-PH" sz="2800" dirty="0">
                <a:effectLst/>
                <a:latin typeface="Times New Roman" panose="02020603050405020304" pitchFamily="18" charset="0"/>
                <a:ea typeface="Times New Roman" panose="02020603050405020304" pitchFamily="18" charset="0"/>
                <a:cs typeface="Times New Roman" panose="02020603050405020304" pitchFamily="18" charset="0"/>
              </a:rPr>
              <a:t>Applications provide solutions, enhance productivity, and offer convenient access to information and services on various platforms. </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92100" indent="-292100" algn="just">
              <a:spcBef>
                <a:spcPts val="0"/>
              </a:spcBef>
            </a:pPr>
            <a:r>
              <a:rPr lang="en-PH" sz="2800" b="1" dirty="0">
                <a:effectLst/>
                <a:latin typeface="Times New Roman" panose="02020603050405020304" pitchFamily="18" charset="0"/>
                <a:ea typeface="Times New Roman" panose="02020603050405020304" pitchFamily="18" charset="0"/>
                <a:cs typeface="Times New Roman" panose="02020603050405020304" pitchFamily="18" charset="0"/>
              </a:rPr>
              <a:t>Innovation:</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292100" indent="-292100">
              <a:buNone/>
            </a:pPr>
            <a:r>
              <a:rPr lang="en-PH" sz="2800" dirty="0">
                <a:effectLst/>
                <a:latin typeface="Times New Roman" panose="02020603050405020304" pitchFamily="18" charset="0"/>
                <a:ea typeface="Calibri" panose="020F0502020204030204" pitchFamily="34" charset="0"/>
                <a:cs typeface="Times New Roman" panose="02020603050405020304" pitchFamily="18" charset="0"/>
              </a:rPr>
              <a:t>It allows for the creation of tailored software solutions that drive innovation and help organizations stay competitive.</a:t>
            </a:r>
            <a:endParaRPr lang="en-US"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670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Software development life-cycle (SDLC) | by Artjoms ...">
            <a:extLst>
              <a:ext uri="{FF2B5EF4-FFF2-40B4-BE49-F238E27FC236}">
                <a16:creationId xmlns:a16="http://schemas.microsoft.com/office/drawing/2014/main" id="{BCF45CB8-0F02-46D8-8900-5E925B2ADDB5}"/>
              </a:ext>
            </a:extLst>
          </p:cNvPr>
          <p:cNvPicPr/>
          <p:nvPr/>
        </p:nvPicPr>
        <p:blipFill rotWithShape="1">
          <a:blip r:embed="rId2">
            <a:extLst>
              <a:ext uri="{28A0092B-C50C-407E-A947-70E740481C1C}">
                <a14:useLocalDpi xmlns:a14="http://schemas.microsoft.com/office/drawing/2010/main" val="0"/>
              </a:ext>
            </a:extLst>
          </a:blip>
          <a:srcRect l="24845" r="28436"/>
          <a:stretch/>
        </p:blipFill>
        <p:spPr bwMode="auto">
          <a:xfrm>
            <a:off x="71326" y="1841707"/>
            <a:ext cx="3950708" cy="4022724"/>
          </a:xfrm>
          <a:prstGeom prst="rect">
            <a:avLst/>
          </a:prstGeom>
          <a:noFill/>
          <a:ln>
            <a:noFill/>
          </a:ln>
          <a:extLst>
            <a:ext uri="{53640926-AAD7-44D8-BBD7-CCE9431645EC}">
              <a14:shadowObscured xmlns:a14="http://schemas.microsoft.com/office/drawing/2010/main"/>
            </a:ext>
          </a:extLst>
        </p:spPr>
      </p:pic>
      <p:sp>
        <p:nvSpPr>
          <p:cNvPr id="2" name="Title 1"/>
          <p:cNvSpPr>
            <a:spLocks noGrp="1"/>
          </p:cNvSpPr>
          <p:nvPr>
            <p:ph type="title"/>
          </p:nvPr>
        </p:nvSpPr>
        <p:spPr/>
        <p:txBody>
          <a:bodyPr/>
          <a:lstStyle/>
          <a:p>
            <a:r>
              <a:rPr dirty="0"/>
              <a:t>What is SDLC?</a:t>
            </a:r>
          </a:p>
        </p:txBody>
      </p:sp>
      <p:sp>
        <p:nvSpPr>
          <p:cNvPr id="7" name="TextBox 6">
            <a:extLst>
              <a:ext uri="{FF2B5EF4-FFF2-40B4-BE49-F238E27FC236}">
                <a16:creationId xmlns:a16="http://schemas.microsoft.com/office/drawing/2014/main" id="{33711DA0-B204-43A4-B9C0-69BB0D657B2E}"/>
              </a:ext>
            </a:extLst>
          </p:cNvPr>
          <p:cNvSpPr txBox="1"/>
          <p:nvPr/>
        </p:nvSpPr>
        <p:spPr>
          <a:xfrm>
            <a:off x="4022034" y="1436120"/>
            <a:ext cx="4472609" cy="4493538"/>
          </a:xfrm>
          <a:prstGeom prst="rect">
            <a:avLst/>
          </a:prstGeom>
          <a:noFill/>
        </p:spPr>
        <p:txBody>
          <a:bodyPr wrap="square">
            <a:spAutoFit/>
          </a:bodyPr>
          <a:lstStyle/>
          <a:p>
            <a:pPr algn="just"/>
            <a:r>
              <a:rPr lang="en-PH" sz="2200" b="1" dirty="0">
                <a:effectLst/>
                <a:latin typeface="Calibri" panose="020F0502020204030204" pitchFamily="34" charset="0"/>
                <a:ea typeface="Calibri" panose="020F0502020204030204" pitchFamily="34" charset="0"/>
                <a:cs typeface="Times New Roman" panose="02020603050405020304" pitchFamily="18" charset="0"/>
              </a:rPr>
              <a:t>Software Development </a:t>
            </a:r>
          </a:p>
          <a:p>
            <a:pPr algn="just"/>
            <a:r>
              <a:rPr lang="en-PH" sz="2200" b="1" dirty="0">
                <a:effectLst/>
                <a:latin typeface="Calibri" panose="020F0502020204030204" pitchFamily="34" charset="0"/>
                <a:ea typeface="Calibri" panose="020F0502020204030204" pitchFamily="34" charset="0"/>
                <a:cs typeface="Times New Roman" panose="02020603050405020304" pitchFamily="18" charset="0"/>
              </a:rPr>
              <a:t>Life Cycle</a:t>
            </a:r>
            <a:r>
              <a:rPr lang="en-PH" sz="2200" dirty="0">
                <a:effectLst/>
                <a:latin typeface="Calibri" panose="020F0502020204030204" pitchFamily="34" charset="0"/>
                <a:ea typeface="Calibri" panose="020F0502020204030204" pitchFamily="34" charset="0"/>
                <a:cs typeface="Times New Roman" panose="02020603050405020304" pitchFamily="18" charset="0"/>
              </a:rPr>
              <a:t>, is a structured, step-by-step process that teams use to plan, design, develop, test, deploy, and maintain high-quality software systems. It acts as a framework or roadmap for software projects, breaking them into distinct phases with specific goals and deliverables to ensure the software meets stakeholder needs and customer expectations efficiently and cost-effectively.</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Phases of SDLC</a:t>
            </a:r>
          </a:p>
        </p:txBody>
      </p:sp>
      <p:sp>
        <p:nvSpPr>
          <p:cNvPr id="3" name="Content Placeholder 2"/>
          <p:cNvSpPr>
            <a:spLocks noGrp="1"/>
          </p:cNvSpPr>
          <p:nvPr>
            <p:ph idx="1"/>
          </p:nvPr>
        </p:nvSpPr>
        <p:spPr>
          <a:xfrm>
            <a:off x="457200" y="1600201"/>
            <a:ext cx="8229600" cy="4248150"/>
          </a:xfrm>
        </p:spPr>
        <p:txBody>
          <a:bodyPr/>
          <a:lstStyle/>
          <a:p>
            <a:pPr marL="0" indent="0">
              <a:buNone/>
            </a:pPr>
            <a:r>
              <a:rPr dirty="0"/>
              <a:t>1. Planning</a:t>
            </a:r>
          </a:p>
          <a:p>
            <a:pPr marL="0" indent="0">
              <a:buNone/>
            </a:pPr>
            <a:r>
              <a:rPr dirty="0"/>
              <a:t>2. Design</a:t>
            </a:r>
          </a:p>
          <a:p>
            <a:pPr marL="0" indent="0">
              <a:buNone/>
            </a:pPr>
            <a:r>
              <a:rPr dirty="0"/>
              <a:t>4. </a:t>
            </a:r>
            <a:r>
              <a:rPr lang="en-US" dirty="0"/>
              <a:t>Development/Coding</a:t>
            </a:r>
          </a:p>
          <a:p>
            <a:pPr marL="0" indent="0">
              <a:buNone/>
            </a:pPr>
            <a:r>
              <a:rPr lang="en-US" dirty="0"/>
              <a:t>5. Testing</a:t>
            </a:r>
          </a:p>
          <a:p>
            <a:pPr marL="0" indent="0">
              <a:buNone/>
            </a:pPr>
            <a:r>
              <a:rPr dirty="0"/>
              <a:t>6. Deployment</a:t>
            </a:r>
          </a:p>
          <a:p>
            <a:pPr marL="0" indent="0">
              <a:buNone/>
            </a:pPr>
            <a:r>
              <a:rPr dirty="0"/>
              <a:t>7. Maintenance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SDLC Methodologies</a:t>
            </a:r>
          </a:p>
        </p:txBody>
      </p:sp>
      <p:sp>
        <p:nvSpPr>
          <p:cNvPr id="3" name="Content Placeholder 2"/>
          <p:cNvSpPr>
            <a:spLocks noGrp="1"/>
          </p:cNvSpPr>
          <p:nvPr>
            <p:ph idx="1"/>
          </p:nvPr>
        </p:nvSpPr>
        <p:spPr/>
        <p:txBody>
          <a:bodyPr/>
          <a:lstStyle/>
          <a:p>
            <a:pPr marL="0" indent="0">
              <a:buNone/>
            </a:pPr>
            <a:r>
              <a:rPr dirty="0"/>
              <a:t>- Waterfall</a:t>
            </a:r>
          </a:p>
          <a:p>
            <a:pPr marL="0" indent="0">
              <a:buNone/>
            </a:pPr>
            <a:r>
              <a:rPr dirty="0"/>
              <a:t>- Agile</a:t>
            </a:r>
          </a:p>
          <a:p>
            <a:pPr marL="0" indent="0">
              <a:buNone/>
            </a:pPr>
            <a:r>
              <a:rPr dirty="0"/>
              <a:t>- Spiral</a:t>
            </a:r>
          </a:p>
          <a:p>
            <a:pPr marL="0" indent="0">
              <a:buNone/>
            </a:pPr>
            <a:r>
              <a:rPr dirty="0"/>
              <a:t>- Iterative</a:t>
            </a:r>
          </a:p>
          <a:p>
            <a:pPr marL="0" indent="0">
              <a:buNone/>
            </a:pPr>
            <a:r>
              <a:rPr dirty="0"/>
              <a:t>- V-Model</a:t>
            </a:r>
          </a:p>
          <a:p>
            <a:pPr marL="0" indent="0">
              <a:buNone/>
            </a:pPr>
            <a:r>
              <a:rPr dirty="0"/>
              <a:t>- DevOps (CI/CD)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Waterfall Model</a:t>
            </a:r>
          </a:p>
        </p:txBody>
      </p:sp>
      <p:sp>
        <p:nvSpPr>
          <p:cNvPr id="3" name="Content Placeholder 2"/>
          <p:cNvSpPr>
            <a:spLocks noGrp="1"/>
          </p:cNvSpPr>
          <p:nvPr>
            <p:ph idx="1"/>
          </p:nvPr>
        </p:nvSpPr>
        <p:spPr>
          <a:xfrm>
            <a:off x="457200" y="1600201"/>
            <a:ext cx="8229600" cy="1962150"/>
          </a:xfrm>
        </p:spPr>
        <p:txBody>
          <a:bodyPr/>
          <a:lstStyle/>
          <a:p>
            <a:pPr marL="0" indent="0">
              <a:buNone/>
            </a:pPr>
            <a:r>
              <a:rPr dirty="0"/>
              <a:t>- Sequential design process</a:t>
            </a:r>
          </a:p>
          <a:p>
            <a:pPr marL="0" indent="0">
              <a:buNone/>
            </a:pPr>
            <a:r>
              <a:rPr dirty="0"/>
              <a:t>- Advantages: Clear structure</a:t>
            </a:r>
          </a:p>
          <a:p>
            <a:pPr marL="0" indent="0">
              <a:buNone/>
            </a:pPr>
            <a:r>
              <a:rPr dirty="0"/>
              <a:t>- Limitations: Inflexible to changes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Agile Model</a:t>
            </a:r>
          </a:p>
        </p:txBody>
      </p:sp>
      <p:sp>
        <p:nvSpPr>
          <p:cNvPr id="3" name="Content Placeholder 2"/>
          <p:cNvSpPr>
            <a:spLocks noGrp="1"/>
          </p:cNvSpPr>
          <p:nvPr>
            <p:ph idx="1"/>
          </p:nvPr>
        </p:nvSpPr>
        <p:spPr/>
        <p:txBody>
          <a:bodyPr/>
          <a:lstStyle/>
          <a:p>
            <a:pPr marL="0" indent="0">
              <a:buNone/>
            </a:pPr>
            <a:r>
              <a:rPr dirty="0"/>
              <a:t>- Iterative, customer collaboration</a:t>
            </a:r>
          </a:p>
          <a:p>
            <a:pPr marL="0" indent="0">
              <a:buNone/>
            </a:pPr>
            <a:r>
              <a:rPr dirty="0"/>
              <a:t>- Advantages: Flexible, adaptive</a:t>
            </a:r>
          </a:p>
          <a:p>
            <a:pPr marL="0" indent="0">
              <a:buNone/>
            </a:pPr>
            <a:r>
              <a:rPr dirty="0"/>
              <a:t>- Limitations: Requires high involvement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Spiral</a:t>
            </a:r>
            <a:r>
              <a:rPr dirty="0"/>
              <a:t> Model</a:t>
            </a:r>
          </a:p>
        </p:txBody>
      </p:sp>
      <p:sp>
        <p:nvSpPr>
          <p:cNvPr id="3" name="Content Placeholder 2"/>
          <p:cNvSpPr>
            <a:spLocks noGrp="1"/>
          </p:cNvSpPr>
          <p:nvPr>
            <p:ph idx="1"/>
          </p:nvPr>
        </p:nvSpPr>
        <p:spPr>
          <a:xfrm>
            <a:off x="457200" y="1809750"/>
            <a:ext cx="8229600" cy="4171949"/>
          </a:xfrm>
        </p:spPr>
        <p:txBody>
          <a:bodyPr>
            <a:normAutofit fontScale="92500" lnSpcReduction="10000"/>
          </a:bodyPr>
          <a:lstStyle/>
          <a:p>
            <a:pPr marL="288925" indent="-288925">
              <a:buNone/>
            </a:pPr>
            <a:r>
              <a:rPr dirty="0"/>
              <a:t>- </a:t>
            </a:r>
            <a:r>
              <a:rPr lang="en-US" dirty="0"/>
              <a:t> Focus is on managing potential risks</a:t>
            </a:r>
            <a:endParaRPr dirty="0"/>
          </a:p>
          <a:p>
            <a:pPr marL="288925" indent="-288925">
              <a:buNone/>
            </a:pPr>
            <a:r>
              <a:rPr dirty="0"/>
              <a:t>- </a:t>
            </a:r>
            <a:r>
              <a:rPr lang="en-US" dirty="0"/>
              <a:t>The project progresses through multiple cycles (spirals), with each cycle adding functionality and refining the software</a:t>
            </a:r>
            <a:endParaRPr dirty="0"/>
          </a:p>
          <a:p>
            <a:pPr marL="288925" indent="-288925">
              <a:buNone/>
            </a:pPr>
            <a:r>
              <a:rPr dirty="0"/>
              <a:t>- </a:t>
            </a:r>
            <a:r>
              <a:rPr lang="en-US" dirty="0"/>
              <a:t>Clients and stakeholders are actively involved throughout the process</a:t>
            </a:r>
          </a:p>
          <a:p>
            <a:pPr marL="288925" indent="-288925">
              <a:buNone/>
            </a:pPr>
            <a:r>
              <a:rPr lang="en-US" dirty="0"/>
              <a:t>- The iterative nature allows for changes in requirements to be incorporated into subsequent spirals, making it adaptable</a:t>
            </a:r>
          </a:p>
          <a:p>
            <a:pPr marL="0" indent="0">
              <a:buNone/>
            </a:pPr>
            <a:endParaRPr dirty="0"/>
          </a:p>
        </p:txBody>
      </p:sp>
    </p:spTree>
    <p:extLst>
      <p:ext uri="{BB962C8B-B14F-4D97-AF65-F5344CB8AC3E}">
        <p14:creationId xmlns:p14="http://schemas.microsoft.com/office/powerpoint/2010/main" val="31360491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Iterative</a:t>
            </a:r>
            <a:r>
              <a:rPr dirty="0"/>
              <a:t> Model</a:t>
            </a:r>
          </a:p>
        </p:txBody>
      </p:sp>
      <p:sp>
        <p:nvSpPr>
          <p:cNvPr id="3" name="Content Placeholder 2"/>
          <p:cNvSpPr>
            <a:spLocks noGrp="1"/>
          </p:cNvSpPr>
          <p:nvPr>
            <p:ph idx="1"/>
          </p:nvPr>
        </p:nvSpPr>
        <p:spPr>
          <a:xfrm>
            <a:off x="457200" y="1809750"/>
            <a:ext cx="8229600" cy="4171949"/>
          </a:xfrm>
        </p:spPr>
        <p:txBody>
          <a:bodyPr>
            <a:normAutofit lnSpcReduction="10000"/>
          </a:bodyPr>
          <a:lstStyle/>
          <a:p>
            <a:pPr marL="288925" indent="-288925">
              <a:buNone/>
            </a:pPr>
            <a:r>
              <a:rPr dirty="0"/>
              <a:t>- </a:t>
            </a:r>
            <a:r>
              <a:rPr lang="en-US" dirty="0"/>
              <a:t> Incremental Development</a:t>
            </a:r>
            <a:endParaRPr dirty="0"/>
          </a:p>
          <a:p>
            <a:pPr marL="288925" indent="-288925">
              <a:buNone/>
            </a:pPr>
            <a:r>
              <a:rPr dirty="0"/>
              <a:t>- </a:t>
            </a:r>
            <a:r>
              <a:rPr lang="en-US" dirty="0"/>
              <a:t>It is flexible and can adapt to changing requirements or new features that emerge during development</a:t>
            </a:r>
          </a:p>
          <a:p>
            <a:pPr marL="288925" indent="-288925">
              <a:buNone/>
            </a:pPr>
            <a:r>
              <a:rPr lang="en-US" dirty="0"/>
              <a:t>- Customer and stakeholder feedback is incorporated early and often</a:t>
            </a:r>
          </a:p>
          <a:p>
            <a:pPr marL="288925" indent="-288925">
              <a:buNone/>
            </a:pPr>
            <a:r>
              <a:rPr lang="en-US" dirty="0"/>
              <a:t>- Risks can be identified and mitigated in the early stages of each iteration</a:t>
            </a:r>
          </a:p>
        </p:txBody>
      </p:sp>
    </p:spTree>
    <p:extLst>
      <p:ext uri="{BB962C8B-B14F-4D97-AF65-F5344CB8AC3E}">
        <p14:creationId xmlns:p14="http://schemas.microsoft.com/office/powerpoint/2010/main" val="42117985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V-Model</a:t>
            </a:r>
            <a:endParaRPr dirty="0"/>
          </a:p>
        </p:txBody>
      </p:sp>
      <p:sp>
        <p:nvSpPr>
          <p:cNvPr id="3" name="Content Placeholder 2"/>
          <p:cNvSpPr>
            <a:spLocks noGrp="1"/>
          </p:cNvSpPr>
          <p:nvPr>
            <p:ph idx="1"/>
          </p:nvPr>
        </p:nvSpPr>
        <p:spPr>
          <a:xfrm>
            <a:off x="457200" y="1809751"/>
            <a:ext cx="8229600" cy="2483954"/>
          </a:xfrm>
        </p:spPr>
        <p:txBody>
          <a:bodyPr>
            <a:normAutofit/>
          </a:bodyPr>
          <a:lstStyle/>
          <a:p>
            <a:pPr marL="288925" indent="-288925">
              <a:buNone/>
            </a:pPr>
            <a:r>
              <a:rPr dirty="0"/>
              <a:t>- </a:t>
            </a:r>
            <a:r>
              <a:rPr lang="en-US" dirty="0"/>
              <a:t> Sequential Phases</a:t>
            </a:r>
            <a:endParaRPr dirty="0"/>
          </a:p>
          <a:p>
            <a:pPr marL="288925" indent="-288925">
              <a:buNone/>
            </a:pPr>
            <a:r>
              <a:rPr dirty="0"/>
              <a:t>- </a:t>
            </a:r>
            <a:r>
              <a:rPr lang="en-US" dirty="0"/>
              <a:t>Verification on the Left</a:t>
            </a:r>
          </a:p>
          <a:p>
            <a:pPr marL="288925" indent="-288925">
              <a:buNone/>
            </a:pPr>
            <a:r>
              <a:rPr lang="en-US" dirty="0"/>
              <a:t>- Validation on the Right</a:t>
            </a:r>
          </a:p>
          <a:p>
            <a:pPr marL="288925" indent="-288925">
              <a:buNone/>
            </a:pPr>
            <a:r>
              <a:rPr lang="en-US" dirty="0"/>
              <a:t>- Parallel Activities</a:t>
            </a:r>
          </a:p>
        </p:txBody>
      </p:sp>
    </p:spTree>
    <p:extLst>
      <p:ext uri="{BB962C8B-B14F-4D97-AF65-F5344CB8AC3E}">
        <p14:creationId xmlns:p14="http://schemas.microsoft.com/office/powerpoint/2010/main" val="6363239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DevOps Model</a:t>
            </a:r>
          </a:p>
        </p:txBody>
      </p:sp>
      <p:sp>
        <p:nvSpPr>
          <p:cNvPr id="3" name="Content Placeholder 2"/>
          <p:cNvSpPr>
            <a:spLocks noGrp="1"/>
          </p:cNvSpPr>
          <p:nvPr>
            <p:ph idx="1"/>
          </p:nvPr>
        </p:nvSpPr>
        <p:spPr/>
        <p:txBody>
          <a:bodyPr/>
          <a:lstStyle/>
          <a:p>
            <a:pPr marL="0" indent="0">
              <a:buNone/>
            </a:pPr>
            <a:r>
              <a:rPr dirty="0"/>
              <a:t>- </a:t>
            </a:r>
            <a:r>
              <a:rPr lang="en-US" dirty="0"/>
              <a:t> Collaboration</a:t>
            </a:r>
            <a:endParaRPr dirty="0"/>
          </a:p>
          <a:p>
            <a:pPr marL="0" indent="0">
              <a:buNone/>
            </a:pPr>
            <a:r>
              <a:rPr dirty="0"/>
              <a:t>- </a:t>
            </a:r>
            <a:r>
              <a:rPr lang="en-US" dirty="0"/>
              <a:t> Automation</a:t>
            </a:r>
          </a:p>
          <a:p>
            <a:pPr>
              <a:buFontTx/>
              <a:buChar char="-"/>
            </a:pPr>
            <a:r>
              <a:rPr lang="en-US" dirty="0"/>
              <a:t>Continuous Improvement</a:t>
            </a:r>
          </a:p>
          <a:p>
            <a:pPr>
              <a:buFontTx/>
              <a:buChar char="-"/>
            </a:pPr>
            <a:r>
              <a:rPr lang="en-US" dirty="0"/>
              <a:t>Shared Responsibility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Case Study Activity</a:t>
            </a:r>
          </a:p>
        </p:txBody>
      </p:sp>
      <p:sp>
        <p:nvSpPr>
          <p:cNvPr id="3" name="Content Placeholder 2"/>
          <p:cNvSpPr>
            <a:spLocks noGrp="1"/>
          </p:cNvSpPr>
          <p:nvPr>
            <p:ph idx="1"/>
          </p:nvPr>
        </p:nvSpPr>
        <p:spPr/>
        <p:txBody>
          <a:bodyPr/>
          <a:lstStyle/>
          <a:p>
            <a:r>
              <a:rPr dirty="0"/>
              <a:t>Scenario: University needs a mobile app for online enrollment.</a:t>
            </a:r>
          </a:p>
          <a:p>
            <a:endParaRPr dirty="0"/>
          </a:p>
          <a:p>
            <a:r>
              <a:rPr dirty="0"/>
              <a:t>Question: Which SDLC model would you use and why?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Current Trends in App Development</a:t>
            </a:r>
          </a:p>
        </p:txBody>
      </p:sp>
      <p:sp>
        <p:nvSpPr>
          <p:cNvPr id="3" name="Content Placeholder 2"/>
          <p:cNvSpPr>
            <a:spLocks noGrp="1"/>
          </p:cNvSpPr>
          <p:nvPr>
            <p:ph idx="1"/>
          </p:nvPr>
        </p:nvSpPr>
        <p:spPr/>
        <p:txBody>
          <a:bodyPr/>
          <a:lstStyle/>
          <a:p>
            <a:pPr marL="0" indent="0">
              <a:buNone/>
            </a:pPr>
            <a:r>
              <a:rPr dirty="0"/>
              <a:t>- Cloud-based development</a:t>
            </a:r>
          </a:p>
          <a:p>
            <a:pPr marL="0" indent="0">
              <a:buNone/>
            </a:pPr>
            <a:r>
              <a:rPr dirty="0"/>
              <a:t>- Mobile-first, cross-platform</a:t>
            </a:r>
          </a:p>
          <a:p>
            <a:pPr marL="0" indent="0">
              <a:buNone/>
            </a:pPr>
            <a:r>
              <a:rPr dirty="0"/>
              <a:t>- Low-code / no-code platforms</a:t>
            </a:r>
          </a:p>
          <a:p>
            <a:pPr marL="0" indent="0">
              <a:buNone/>
            </a:pPr>
            <a:r>
              <a:rPr dirty="0"/>
              <a:t>- AI/ML integration</a:t>
            </a:r>
          </a:p>
          <a:p>
            <a:pPr marL="0" indent="0">
              <a:buNone/>
            </a:pPr>
            <a:r>
              <a:rPr dirty="0"/>
              <a:t>- Cybersecurity &amp; </a:t>
            </a:r>
            <a:r>
              <a:rPr dirty="0" err="1"/>
              <a:t>DevSecOps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Trends in Action</a:t>
            </a:r>
          </a:p>
        </p:txBody>
      </p:sp>
      <p:sp>
        <p:nvSpPr>
          <p:cNvPr id="3" name="Content Placeholder 2"/>
          <p:cNvSpPr>
            <a:spLocks noGrp="1"/>
          </p:cNvSpPr>
          <p:nvPr>
            <p:ph idx="1"/>
          </p:nvPr>
        </p:nvSpPr>
        <p:spPr/>
        <p:txBody>
          <a:bodyPr/>
          <a:lstStyle/>
          <a:p>
            <a:pPr marL="0" indent="0">
              <a:buNone/>
            </a:pPr>
            <a:r>
              <a:rPr dirty="0"/>
              <a:t>Examples:</a:t>
            </a:r>
          </a:p>
          <a:p>
            <a:pPr marL="0" indent="0">
              <a:buNone/>
            </a:pPr>
            <a:r>
              <a:rPr dirty="0"/>
              <a:t>- </a:t>
            </a:r>
            <a:r>
              <a:rPr dirty="0" err="1"/>
              <a:t>TikTok</a:t>
            </a:r>
            <a:r>
              <a:rPr dirty="0"/>
              <a:t> → AI/ML integration</a:t>
            </a:r>
          </a:p>
          <a:p>
            <a:pPr marL="0" indent="0">
              <a:buNone/>
            </a:pPr>
            <a:r>
              <a:rPr dirty="0"/>
              <a:t>- Canva → Cloud-based + collaboration</a:t>
            </a:r>
          </a:p>
          <a:p>
            <a:pPr marL="0" indent="0">
              <a:buNone/>
            </a:pPr>
            <a:r>
              <a:rPr dirty="0"/>
              <a:t>- Microsoft PowerApps → Low-code platform</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Group Activity</a:t>
            </a:r>
          </a:p>
        </p:txBody>
      </p:sp>
      <p:sp>
        <p:nvSpPr>
          <p:cNvPr id="3" name="Content Placeholder 2"/>
          <p:cNvSpPr>
            <a:spLocks noGrp="1"/>
          </p:cNvSpPr>
          <p:nvPr>
            <p:ph idx="1"/>
          </p:nvPr>
        </p:nvSpPr>
        <p:spPr/>
        <p:txBody>
          <a:bodyPr/>
          <a:lstStyle/>
          <a:p>
            <a:r>
              <a:rPr dirty="0"/>
              <a:t>Research sprint: Find examples of apps applying these trends and share with the class.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Wrap-Up Activity</a:t>
            </a:r>
          </a:p>
        </p:txBody>
      </p:sp>
      <p:sp>
        <p:nvSpPr>
          <p:cNvPr id="3" name="Content Placeholder 2"/>
          <p:cNvSpPr>
            <a:spLocks noGrp="1"/>
          </p:cNvSpPr>
          <p:nvPr>
            <p:ph idx="1"/>
          </p:nvPr>
        </p:nvSpPr>
        <p:spPr/>
        <p:txBody>
          <a:bodyPr/>
          <a:lstStyle/>
          <a:p>
            <a:pPr marL="0" indent="0">
              <a:buNone/>
            </a:pPr>
            <a:r>
              <a:rPr dirty="0"/>
              <a:t>- Propose a simple app idea</a:t>
            </a:r>
          </a:p>
          <a:p>
            <a:pPr marL="0" indent="0">
              <a:buNone/>
            </a:pPr>
            <a:r>
              <a:rPr dirty="0"/>
              <a:t>- Select an SDLC model</a:t>
            </a:r>
          </a:p>
          <a:p>
            <a:pPr marL="0" indent="0">
              <a:buNone/>
            </a:pPr>
            <a:r>
              <a:rPr dirty="0"/>
              <a:t>- Apply one current trend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Reflection Questions</a:t>
            </a:r>
          </a:p>
        </p:txBody>
      </p:sp>
      <p:sp>
        <p:nvSpPr>
          <p:cNvPr id="3" name="Content Placeholder 2"/>
          <p:cNvSpPr>
            <a:spLocks noGrp="1"/>
          </p:cNvSpPr>
          <p:nvPr>
            <p:ph idx="1"/>
          </p:nvPr>
        </p:nvSpPr>
        <p:spPr/>
        <p:txBody>
          <a:bodyPr/>
          <a:lstStyle/>
          <a:p>
            <a:pPr marL="0" indent="0">
              <a:buNone/>
            </a:pPr>
            <a:r>
              <a:rPr dirty="0"/>
              <a:t>1. Which SDLC model fits your working style? Why?</a:t>
            </a:r>
          </a:p>
          <a:p>
            <a:pPr marL="0" indent="0">
              <a:buNone/>
            </a:pPr>
            <a:r>
              <a:rPr dirty="0"/>
              <a:t>2. How can trends shape the future of software development?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57225"/>
            <a:ext cx="8229600" cy="1916112"/>
          </a:xfrm>
        </p:spPr>
        <p:txBody>
          <a:bodyPr>
            <a:normAutofit/>
          </a:bodyPr>
          <a:lstStyle/>
          <a:p>
            <a:r>
              <a:rPr sz="6600" b="1" dirty="0"/>
              <a:t>Thank You</a:t>
            </a:r>
          </a:p>
        </p:txBody>
      </p:sp>
      <p:sp>
        <p:nvSpPr>
          <p:cNvPr id="3" name="Content Placeholder 2"/>
          <p:cNvSpPr>
            <a:spLocks noGrp="1"/>
          </p:cNvSpPr>
          <p:nvPr>
            <p:ph idx="1"/>
          </p:nvPr>
        </p:nvSpPr>
        <p:spPr>
          <a:xfrm>
            <a:off x="457200" y="2743201"/>
            <a:ext cx="8229600" cy="1485900"/>
          </a:xfrm>
        </p:spPr>
        <p:txBody>
          <a:bodyPr/>
          <a:lstStyle/>
          <a:p>
            <a:r>
              <a:rPr dirty="0"/>
              <a:t>Next session topic</a:t>
            </a:r>
            <a:endParaRPr lang="en-US" dirty="0"/>
          </a:p>
          <a:p>
            <a:pPr marL="0" indent="0" algn="ctr">
              <a:buNone/>
            </a:pPr>
            <a:r>
              <a:rPr lang="en-US" sz="4400" b="1" dirty="0"/>
              <a:t>Requirements Analysis, UI/UX</a:t>
            </a:r>
            <a:endParaRPr b="1"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4992</TotalTime>
  <Words>1372</Words>
  <Application>Microsoft Office PowerPoint</Application>
  <PresentationFormat>On-screen Show (4:3)</PresentationFormat>
  <Paragraphs>156</Paragraphs>
  <Slides>22</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Google Sans</vt:lpstr>
      <vt:lpstr>Times New Roman</vt:lpstr>
      <vt:lpstr>Office Theme</vt:lpstr>
      <vt:lpstr>Introduction to Application Development SDLC &amp; Trends</vt:lpstr>
      <vt:lpstr>Learning Objectives</vt:lpstr>
      <vt:lpstr>What is Application Development?</vt:lpstr>
      <vt:lpstr>The Application Development Process</vt:lpstr>
      <vt:lpstr>PowerPoint Presentation</vt:lpstr>
      <vt:lpstr>Why It Matters</vt:lpstr>
      <vt:lpstr>What is SDLC?</vt:lpstr>
      <vt:lpstr>Phases of SDLC</vt:lpstr>
      <vt:lpstr>SDLC Methodologies</vt:lpstr>
      <vt:lpstr>Waterfall Model</vt:lpstr>
      <vt:lpstr>Agile Model</vt:lpstr>
      <vt:lpstr>Spiral Model</vt:lpstr>
      <vt:lpstr>Iterative Model</vt:lpstr>
      <vt:lpstr>V-Model</vt:lpstr>
      <vt:lpstr>DevOps Model</vt:lpstr>
      <vt:lpstr>Case Study Activity</vt:lpstr>
      <vt:lpstr>Current Trends in App Development</vt:lpstr>
      <vt:lpstr>Trends in Action</vt:lpstr>
      <vt:lpstr>Group Activity</vt:lpstr>
      <vt:lpstr>Wrap-Up Activity</vt:lpstr>
      <vt:lpstr>Reflection Questions</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Application Development SDLC &amp; Trends</dc:title>
  <dc:subject/>
  <dc:creator>ANDIESTARK</dc:creator>
  <cp:keywords/>
  <dc:description>generated using python-pptx</dc:description>
  <cp:lastModifiedBy>SONY VAIO</cp:lastModifiedBy>
  <cp:revision>11</cp:revision>
  <dcterms:created xsi:type="dcterms:W3CDTF">2013-01-27T09:14:16Z</dcterms:created>
  <dcterms:modified xsi:type="dcterms:W3CDTF">2025-08-29T00:54:43Z</dcterms:modified>
  <cp:category/>
</cp:coreProperties>
</file>